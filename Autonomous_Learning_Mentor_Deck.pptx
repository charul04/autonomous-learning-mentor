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29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777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828800"/>
            <a:ext cx="6217920" cy="6217920"/>
          </a:xfrm>
          <a:prstGeom prst="ellipse">
            <a:avLst/>
          </a:prstGeom>
          <a:solidFill>
            <a:srgbClr val="6366F1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92640" y="3108960"/>
            <a:ext cx="4023360" cy="4023360"/>
          </a:xfrm>
          <a:prstGeom prst="ellipse">
            <a:avLst/>
          </a:prstGeom>
          <a:solidFill>
            <a:srgbClr val="06B6D4">
              <a:alpha val="2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698480" y="182880"/>
            <a:ext cx="2194560" cy="2194560"/>
          </a:xfrm>
          <a:prstGeom prst="ellipse">
            <a:avLst/>
          </a:prstGeom>
          <a:solidFill>
            <a:srgbClr val="F59E0B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051560"/>
            <a:ext cx="2331720" cy="457200"/>
          </a:xfrm>
          <a:prstGeom prst="roundRect">
            <a:avLst>
              <a:gd name="adj" fmla="val 18000"/>
            </a:avLst>
          </a:prstGeom>
          <a:solidFill>
            <a:srgbClr val="06B6D4">
              <a:alpha val="15000"/>
            </a:srgbClr>
          </a:solidFill>
          <a:ln w="1587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 · QUALITY EDUCATION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8961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Learning Mentor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autonomous, multi-agent AI system that plans, teaches, evaluates, and adapts a student's entire learning journey.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1682496" cy="475488"/>
          </a:xfrm>
          <a:prstGeom prst="roundRect">
            <a:avLst>
              <a:gd name="adj" fmla="val 19231"/>
            </a:avLst>
          </a:prstGeom>
          <a:solidFill>
            <a:srgbClr val="1E293B"/>
          </a:solidFill>
          <a:ln w="158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0" name="Shape 8"/>
          <p:cNvSpPr/>
          <p:nvPr/>
        </p:nvSpPr>
        <p:spPr>
          <a:xfrm>
            <a:off x="923544" y="4425696"/>
            <a:ext cx="310896" cy="310896"/>
          </a:xfrm>
          <a:prstGeom prst="ellipse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" y="4487875"/>
            <a:ext cx="186538" cy="18653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16736" y="434340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734056" y="4343400"/>
            <a:ext cx="1929384" cy="475488"/>
          </a:xfrm>
          <a:prstGeom prst="roundRect">
            <a:avLst>
              <a:gd name="adj" fmla="val 19231"/>
            </a:avLst>
          </a:prstGeom>
          <a:solidFill>
            <a:srgbClr val="1E293B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4" name="Shape 11"/>
          <p:cNvSpPr/>
          <p:nvPr/>
        </p:nvSpPr>
        <p:spPr>
          <a:xfrm>
            <a:off x="2834640" y="4425696"/>
            <a:ext cx="310896" cy="310896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6819" y="4487875"/>
            <a:ext cx="186538" cy="1865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27832" y="43434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892040" y="4343400"/>
            <a:ext cx="1764792" cy="475488"/>
          </a:xfrm>
          <a:prstGeom prst="roundRect">
            <a:avLst>
              <a:gd name="adj" fmla="val 19231"/>
            </a:avLst>
          </a:prstGeom>
          <a:solidFill>
            <a:srgbClr val="1E293B"/>
          </a:solidFill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8" name="Shape 14"/>
          <p:cNvSpPr/>
          <p:nvPr/>
        </p:nvSpPr>
        <p:spPr>
          <a:xfrm>
            <a:off x="4992624" y="4425696"/>
            <a:ext cx="310896" cy="310896"/>
          </a:xfrm>
          <a:prstGeom prst="ellipse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4803" y="4487875"/>
            <a:ext cx="186538" cy="1865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53812" y="4343400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Groq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One-Size-Fits-All Learning Doesn't Scale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education means meeting every learner where they are — but most self-study tools still treat everyone the same way.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337560" cy="3246120"/>
          </a:xfrm>
          <a:prstGeom prst="roundRect">
            <a:avLst>
              <a:gd name="adj" fmla="val 3380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6" name="Shape 4"/>
          <p:cNvSpPr/>
          <p:nvPr/>
        </p:nvSpPr>
        <p:spPr>
          <a:xfrm>
            <a:off x="960120" y="2715768"/>
            <a:ext cx="2697480" cy="640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7" name="Shape 5"/>
          <p:cNvSpPr/>
          <p:nvPr/>
        </p:nvSpPr>
        <p:spPr>
          <a:xfrm>
            <a:off x="960120" y="3017520"/>
            <a:ext cx="777240" cy="777240"/>
          </a:xfrm>
          <a:prstGeom prst="ellipse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30" y="321183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023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Content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45262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courses don't adjust to a learner's pace, skill level, or evolving weak spots.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97680" y="2514600"/>
            <a:ext cx="3337560" cy="3246120"/>
          </a:xfrm>
          <a:prstGeom prst="roundRect">
            <a:avLst>
              <a:gd name="adj" fmla="val 3380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12" name="Shape 9"/>
          <p:cNvSpPr/>
          <p:nvPr/>
        </p:nvSpPr>
        <p:spPr>
          <a:xfrm>
            <a:off x="4617720" y="2715768"/>
            <a:ext cx="2697480" cy="640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13" name="Shape 10"/>
          <p:cNvSpPr/>
          <p:nvPr/>
        </p:nvSpPr>
        <p:spPr>
          <a:xfrm>
            <a:off x="4617720" y="3017520"/>
            <a:ext cx="777240" cy="77724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030" y="3211830"/>
            <a:ext cx="388620" cy="3886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4023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 Feedback Loop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17720" y="45262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exist in isolation — results rarely reshape what happens next in the plan.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955280" y="2514600"/>
            <a:ext cx="3337560" cy="3246120"/>
          </a:xfrm>
          <a:prstGeom prst="roundRect">
            <a:avLst>
              <a:gd name="adj" fmla="val 3380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18" name="Shape 14"/>
          <p:cNvSpPr/>
          <p:nvPr/>
        </p:nvSpPr>
        <p:spPr>
          <a:xfrm>
            <a:off x="8275320" y="2715768"/>
            <a:ext cx="2697480" cy="640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19" name="Shape 15"/>
          <p:cNvSpPr/>
          <p:nvPr/>
        </p:nvSpPr>
        <p:spPr>
          <a:xfrm>
            <a:off x="8275320" y="3017520"/>
            <a:ext cx="777240" cy="777240"/>
          </a:xfrm>
          <a:prstGeom prst="ellipse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630" y="3211830"/>
            <a:ext cx="388620" cy="3886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75320" y="4023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Disconnected Progress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275320" y="45262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Tutoring, testing, and scheduling live in separate tools with no shared memory.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Team of AI Agents, Not a Chatbot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specialized agents collaborate through a real LangGraph workflow — planning, teaching, testing, and adapting the roadmap continuously, with shared memory across every step.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337560" cy="288036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6" name="Shape 4"/>
          <p:cNvSpPr/>
          <p:nvPr/>
        </p:nvSpPr>
        <p:spPr>
          <a:xfrm>
            <a:off x="1668780" y="2651760"/>
            <a:ext cx="1280160" cy="640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7" name="Shape 5"/>
          <p:cNvSpPr/>
          <p:nvPr/>
        </p:nvSpPr>
        <p:spPr>
          <a:xfrm>
            <a:off x="1897380" y="2880360"/>
            <a:ext cx="822960" cy="822960"/>
          </a:xfrm>
          <a:prstGeom prst="ellipse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30861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840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43434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and Planner agents turn a learning target into a full day-by-day roadmap.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991356" y="3762756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12" name="Shape 9"/>
          <p:cNvSpPr/>
          <p:nvPr/>
        </p:nvSpPr>
        <p:spPr>
          <a:xfrm>
            <a:off x="4297680" y="2468880"/>
            <a:ext cx="3337560" cy="2880360"/>
          </a:xfrm>
          <a:prstGeom prst="roundRect">
            <a:avLst>
              <a:gd name="adj" fmla="val 3810"/>
            </a:avLst>
          </a:prstGeom>
          <a:solidFill>
            <a:srgbClr val="6366F1"/>
          </a:solidFill>
          <a:ln/>
          <a:effectLst>
            <a:outerShdw blurRad="127000" dist="508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13" name="Shape 10"/>
          <p:cNvSpPr/>
          <p:nvPr/>
        </p:nvSpPr>
        <p:spPr>
          <a:xfrm>
            <a:off x="5554980" y="2880360"/>
            <a:ext cx="822960" cy="8229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 sz="160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0861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97680" y="3840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&amp; Test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72000" y="43434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and Quiz agents explain concepts and check understanding in real time.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648956" y="3762756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18" name="Shape 14"/>
          <p:cNvSpPr/>
          <p:nvPr/>
        </p:nvSpPr>
        <p:spPr>
          <a:xfrm>
            <a:off x="7955280" y="2468880"/>
            <a:ext cx="3337560" cy="288036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19" name="Shape 15"/>
          <p:cNvSpPr/>
          <p:nvPr/>
        </p:nvSpPr>
        <p:spPr>
          <a:xfrm>
            <a:off x="8983980" y="2651760"/>
            <a:ext cx="1280160" cy="640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20" name="Shape 16"/>
          <p:cNvSpPr/>
          <p:nvPr/>
        </p:nvSpPr>
        <p:spPr>
          <a:xfrm>
            <a:off x="9212580" y="2880360"/>
            <a:ext cx="822960" cy="82296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308610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955280" y="3840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229600" y="43434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and Adaptive agents reshape difficulty, revision, and pacing automatically.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40080" y="5623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reads and writes to one shared state — so nothing is ever forgotten.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Agents. One Continuous LangGraph Workflow.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847088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5" name="Shape 3"/>
          <p:cNvSpPr/>
          <p:nvPr/>
        </p:nvSpPr>
        <p:spPr>
          <a:xfrm>
            <a:off x="1197864" y="2093976"/>
            <a:ext cx="731520" cy="640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6" name="Shape 4"/>
          <p:cNvSpPr/>
          <p:nvPr/>
        </p:nvSpPr>
        <p:spPr>
          <a:xfrm>
            <a:off x="1289304" y="2240280"/>
            <a:ext cx="548640" cy="548640"/>
          </a:xfrm>
          <a:prstGeom prst="ellipse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" y="23774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86207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487168" y="2583180"/>
            <a:ext cx="1828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  <p:txBody>
          <a:bodyPr/>
          <a:lstStyle/>
          <a:p>
            <a:endParaRPr lang="en-IN" sz="1600"/>
          </a:p>
        </p:txBody>
      </p:sp>
      <p:sp>
        <p:nvSpPr>
          <p:cNvPr id="10" name="Shape 7"/>
          <p:cNvSpPr/>
          <p:nvPr/>
        </p:nvSpPr>
        <p:spPr>
          <a:xfrm>
            <a:off x="2670048" y="1965960"/>
            <a:ext cx="1847088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11" name="Shape 8"/>
          <p:cNvSpPr/>
          <p:nvPr/>
        </p:nvSpPr>
        <p:spPr>
          <a:xfrm>
            <a:off x="3227832" y="2093976"/>
            <a:ext cx="731520" cy="640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12" name="Shape 9"/>
          <p:cNvSpPr/>
          <p:nvPr/>
        </p:nvSpPr>
        <p:spPr>
          <a:xfrm>
            <a:off x="3319272" y="2240280"/>
            <a:ext cx="548640" cy="548640"/>
          </a:xfrm>
          <a:prstGeom prst="ellipse">
            <a:avLst/>
          </a:prstGeom>
          <a:solidFill>
            <a:srgbClr val="22C55E">
              <a:alpha val="22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23774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70048" y="286207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517136" y="2583180"/>
            <a:ext cx="1828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  <p:txBody>
          <a:bodyPr/>
          <a:lstStyle/>
          <a:p>
            <a:endParaRPr lang="en-IN" sz="1600"/>
          </a:p>
        </p:txBody>
      </p:sp>
      <p:sp>
        <p:nvSpPr>
          <p:cNvPr id="16" name="Shape 12"/>
          <p:cNvSpPr/>
          <p:nvPr/>
        </p:nvSpPr>
        <p:spPr>
          <a:xfrm>
            <a:off x="4700016" y="1965960"/>
            <a:ext cx="1847088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17" name="Shape 13"/>
          <p:cNvSpPr/>
          <p:nvPr/>
        </p:nvSpPr>
        <p:spPr>
          <a:xfrm>
            <a:off x="5257800" y="2093976"/>
            <a:ext cx="731520" cy="640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18" name="Shape 14"/>
          <p:cNvSpPr/>
          <p:nvPr/>
        </p:nvSpPr>
        <p:spPr>
          <a:xfrm>
            <a:off x="5349240" y="2240280"/>
            <a:ext cx="548640" cy="548640"/>
          </a:xfrm>
          <a:prstGeom prst="ellipse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3774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0016" y="286207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547104" y="2583180"/>
            <a:ext cx="1828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  <p:txBody>
          <a:bodyPr/>
          <a:lstStyle/>
          <a:p>
            <a:endParaRPr lang="en-IN" sz="1600"/>
          </a:p>
        </p:txBody>
      </p:sp>
      <p:sp>
        <p:nvSpPr>
          <p:cNvPr id="22" name="Shape 17"/>
          <p:cNvSpPr/>
          <p:nvPr/>
        </p:nvSpPr>
        <p:spPr>
          <a:xfrm>
            <a:off x="6729984" y="1965960"/>
            <a:ext cx="1847088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23" name="Shape 18"/>
          <p:cNvSpPr/>
          <p:nvPr/>
        </p:nvSpPr>
        <p:spPr>
          <a:xfrm>
            <a:off x="7287768" y="2093976"/>
            <a:ext cx="731520" cy="640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24" name="Shape 19"/>
          <p:cNvSpPr/>
          <p:nvPr/>
        </p:nvSpPr>
        <p:spPr>
          <a:xfrm>
            <a:off x="7379208" y="2240280"/>
            <a:ext cx="548640" cy="54864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237744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29984" y="286207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8577072" y="2583180"/>
            <a:ext cx="1828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  <p:txBody>
          <a:bodyPr/>
          <a:lstStyle/>
          <a:p>
            <a:endParaRPr lang="en-IN" sz="1600"/>
          </a:p>
        </p:txBody>
      </p:sp>
      <p:sp>
        <p:nvSpPr>
          <p:cNvPr id="28" name="Shape 22"/>
          <p:cNvSpPr/>
          <p:nvPr/>
        </p:nvSpPr>
        <p:spPr>
          <a:xfrm>
            <a:off x="8759952" y="1965960"/>
            <a:ext cx="1847088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29" name="Shape 23"/>
          <p:cNvSpPr/>
          <p:nvPr/>
        </p:nvSpPr>
        <p:spPr>
          <a:xfrm>
            <a:off x="9317736" y="2093976"/>
            <a:ext cx="731520" cy="640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30" name="Shape 24"/>
          <p:cNvSpPr/>
          <p:nvPr/>
        </p:nvSpPr>
        <p:spPr>
          <a:xfrm>
            <a:off x="9409176" y="2240280"/>
            <a:ext cx="548640" cy="548640"/>
          </a:xfrm>
          <a:prstGeom prst="ellipse">
            <a:avLst/>
          </a:prstGeom>
          <a:solidFill>
            <a:srgbClr val="22C55E">
              <a:alpha val="22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6336" y="237744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759952" y="286207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9683496" y="3200400"/>
            <a:ext cx="0" cy="438912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34" name="Shape 27"/>
          <p:cNvSpPr/>
          <p:nvPr/>
        </p:nvSpPr>
        <p:spPr>
          <a:xfrm>
            <a:off x="1563624" y="3639312"/>
            <a:ext cx="8119872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35" name="Shape 28"/>
          <p:cNvSpPr/>
          <p:nvPr/>
        </p:nvSpPr>
        <p:spPr>
          <a:xfrm>
            <a:off x="1563624" y="3639312"/>
            <a:ext cx="0" cy="429768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  <p:txBody>
          <a:bodyPr/>
          <a:lstStyle/>
          <a:p>
            <a:endParaRPr lang="en-IN" sz="1600"/>
          </a:p>
        </p:txBody>
      </p:sp>
      <p:sp>
        <p:nvSpPr>
          <p:cNvPr id="36" name="Shape 29"/>
          <p:cNvSpPr/>
          <p:nvPr/>
        </p:nvSpPr>
        <p:spPr>
          <a:xfrm>
            <a:off x="640080" y="4069080"/>
            <a:ext cx="1847088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37" name="Shape 30"/>
          <p:cNvSpPr/>
          <p:nvPr/>
        </p:nvSpPr>
        <p:spPr>
          <a:xfrm>
            <a:off x="1197864" y="4197096"/>
            <a:ext cx="731520" cy="640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38" name="Shape 31"/>
          <p:cNvSpPr/>
          <p:nvPr/>
        </p:nvSpPr>
        <p:spPr>
          <a:xfrm>
            <a:off x="1289304" y="4343400"/>
            <a:ext cx="548640" cy="54864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6464" y="4480560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40080" y="496519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</a:t>
            </a:r>
            <a:endParaRPr lang="en-US" sz="1600" dirty="0"/>
          </a:p>
        </p:txBody>
      </p:sp>
      <p:sp>
        <p:nvSpPr>
          <p:cNvPr id="41" name="Shape 33"/>
          <p:cNvSpPr/>
          <p:nvPr/>
        </p:nvSpPr>
        <p:spPr>
          <a:xfrm>
            <a:off x="2487168" y="4686300"/>
            <a:ext cx="18288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  <a:tailEnd type="triangle"/>
          </a:ln>
        </p:spPr>
        <p:txBody>
          <a:bodyPr/>
          <a:lstStyle/>
          <a:p>
            <a:endParaRPr lang="en-IN" sz="1600"/>
          </a:p>
        </p:txBody>
      </p:sp>
      <p:sp>
        <p:nvSpPr>
          <p:cNvPr id="42" name="Shape 34"/>
          <p:cNvSpPr/>
          <p:nvPr/>
        </p:nvSpPr>
        <p:spPr>
          <a:xfrm>
            <a:off x="2670048" y="4069080"/>
            <a:ext cx="1847088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43" name="Shape 35"/>
          <p:cNvSpPr/>
          <p:nvPr/>
        </p:nvSpPr>
        <p:spPr>
          <a:xfrm>
            <a:off x="3227832" y="4197096"/>
            <a:ext cx="731520" cy="640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44" name="Shape 36"/>
          <p:cNvSpPr/>
          <p:nvPr/>
        </p:nvSpPr>
        <p:spPr>
          <a:xfrm>
            <a:off x="3319272" y="4343400"/>
            <a:ext cx="548640" cy="548640"/>
          </a:xfrm>
          <a:prstGeom prst="ellipse">
            <a:avLst/>
          </a:prstGeom>
          <a:solidFill>
            <a:srgbClr val="22C55E">
              <a:alpha val="22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6432" y="4480560"/>
            <a:ext cx="274320" cy="27432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2670048" y="496519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Revision</a:t>
            </a:r>
            <a:endParaRPr lang="en-US" sz="1600" dirty="0"/>
          </a:p>
        </p:txBody>
      </p:sp>
      <p:sp>
        <p:nvSpPr>
          <p:cNvPr id="47" name="Shape 38"/>
          <p:cNvSpPr/>
          <p:nvPr/>
        </p:nvSpPr>
        <p:spPr>
          <a:xfrm>
            <a:off x="4517136" y="4686300"/>
            <a:ext cx="18288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  <a:tailEnd type="triangle"/>
          </a:ln>
        </p:spPr>
        <p:txBody>
          <a:bodyPr/>
          <a:lstStyle/>
          <a:p>
            <a:endParaRPr lang="en-IN" sz="1600"/>
          </a:p>
        </p:txBody>
      </p:sp>
      <p:sp>
        <p:nvSpPr>
          <p:cNvPr id="48" name="Shape 39"/>
          <p:cNvSpPr/>
          <p:nvPr/>
        </p:nvSpPr>
        <p:spPr>
          <a:xfrm>
            <a:off x="4700016" y="4069080"/>
            <a:ext cx="1847088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49" name="Shape 40"/>
          <p:cNvSpPr/>
          <p:nvPr/>
        </p:nvSpPr>
        <p:spPr>
          <a:xfrm>
            <a:off x="5257800" y="4197096"/>
            <a:ext cx="731520" cy="640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50" name="Shape 41"/>
          <p:cNvSpPr/>
          <p:nvPr/>
        </p:nvSpPr>
        <p:spPr>
          <a:xfrm>
            <a:off x="5349240" y="4343400"/>
            <a:ext cx="548640" cy="54864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4480560"/>
            <a:ext cx="274320" cy="274320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4700016" y="496519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Reminder</a:t>
            </a:r>
            <a:endParaRPr lang="en-US" sz="1600" dirty="0"/>
          </a:p>
        </p:txBody>
      </p:sp>
      <p:sp>
        <p:nvSpPr>
          <p:cNvPr id="53" name="Shape 43"/>
          <p:cNvSpPr/>
          <p:nvPr/>
        </p:nvSpPr>
        <p:spPr>
          <a:xfrm>
            <a:off x="6547104" y="4686300"/>
            <a:ext cx="18288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  <a:tailEnd type="triangle"/>
          </a:ln>
        </p:spPr>
        <p:txBody>
          <a:bodyPr/>
          <a:lstStyle/>
          <a:p>
            <a:endParaRPr lang="en-IN" sz="1600"/>
          </a:p>
        </p:txBody>
      </p:sp>
      <p:sp>
        <p:nvSpPr>
          <p:cNvPr id="54" name="Shape 44"/>
          <p:cNvSpPr/>
          <p:nvPr/>
        </p:nvSpPr>
        <p:spPr>
          <a:xfrm>
            <a:off x="6729984" y="4069080"/>
            <a:ext cx="1847088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55" name="Shape 45"/>
          <p:cNvSpPr/>
          <p:nvPr/>
        </p:nvSpPr>
        <p:spPr>
          <a:xfrm>
            <a:off x="7287768" y="4197096"/>
            <a:ext cx="731520" cy="6400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56" name="Shape 46"/>
          <p:cNvSpPr/>
          <p:nvPr/>
        </p:nvSpPr>
        <p:spPr>
          <a:xfrm>
            <a:off x="7379208" y="4343400"/>
            <a:ext cx="548640" cy="548640"/>
          </a:xfrm>
          <a:prstGeom prst="ellipse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5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6368" y="4480560"/>
            <a:ext cx="274320" cy="274320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6729984" y="496519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600" dirty="0"/>
          </a:p>
        </p:txBody>
      </p:sp>
      <p:sp>
        <p:nvSpPr>
          <p:cNvPr id="59" name="Text 48"/>
          <p:cNvSpPr/>
          <p:nvPr/>
        </p:nvSpPr>
        <p:spPr>
          <a:xfrm>
            <a:off x="640080" y="58064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flows through every node with conditional routing — the Adaptive Agent can send the plan back to the Planner or forward to Revision, with full checkpointing in between.</a:t>
            </a:r>
            <a:endParaRPr lang="en-US" sz="1600" dirty="0"/>
          </a:p>
        </p:txBody>
      </p:sp>
      <p:sp>
        <p:nvSpPr>
          <p:cNvPr id="61" name="Text 5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 Learner Needs, In One Place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2112264"/>
            <a:ext cx="3063240" cy="640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6" name="Shape 4"/>
          <p:cNvSpPr/>
          <p:nvPr/>
        </p:nvSpPr>
        <p:spPr>
          <a:xfrm>
            <a:off x="896112" y="2295144"/>
            <a:ext cx="566928" cy="566928"/>
          </a:xfrm>
          <a:prstGeom prst="ellipse">
            <a:avLst/>
          </a:prstGeom>
          <a:solidFill>
            <a:srgbClr val="22C55E">
              <a:alpha val="22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75" y="2431207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Roadmap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295351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syllabus and daily schedule generated around one specific goal.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16552" y="19659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645152" y="2112264"/>
            <a:ext cx="3063240" cy="640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12" name="Shape 9"/>
          <p:cNvSpPr/>
          <p:nvPr/>
        </p:nvSpPr>
        <p:spPr>
          <a:xfrm>
            <a:off x="4672584" y="2295144"/>
            <a:ext cx="566928" cy="566928"/>
          </a:xfrm>
          <a:prstGeom prst="ellipse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647" y="2431207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76672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Tutor Chat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72584" y="295351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Streamed, concept-level explanations with optional PDF-grounded context.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193024" y="19659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421624" y="2112264"/>
            <a:ext cx="3063240" cy="640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18" name="Shape 14"/>
          <p:cNvSpPr/>
          <p:nvPr/>
        </p:nvSpPr>
        <p:spPr>
          <a:xfrm>
            <a:off x="8449056" y="2295144"/>
            <a:ext cx="566928" cy="566928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5119" y="2431207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53144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Quizzes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49056" y="295351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MCQ, coding, and short-answer questions that scale with skill level.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40080" y="40233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868680" y="4169664"/>
            <a:ext cx="3063240" cy="640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24" name="Shape 19"/>
          <p:cNvSpPr/>
          <p:nvPr/>
        </p:nvSpPr>
        <p:spPr>
          <a:xfrm>
            <a:off x="896112" y="4352544"/>
            <a:ext cx="566928" cy="566928"/>
          </a:xfrm>
          <a:prstGeom prst="ellipse">
            <a:avLst/>
          </a:prstGeom>
          <a:solidFill>
            <a:srgbClr val="22C55E">
              <a:alpha val="22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175" y="4488607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4297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Analytics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96112" y="501091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trends, topic mastery radar, and weekly activity heatmaps.</a:t>
            </a:r>
            <a:endParaRPr lang="en-US" sz="1080" dirty="0"/>
          </a:p>
        </p:txBody>
      </p:sp>
      <p:sp>
        <p:nvSpPr>
          <p:cNvPr id="28" name="Shape 22"/>
          <p:cNvSpPr/>
          <p:nvPr/>
        </p:nvSpPr>
        <p:spPr>
          <a:xfrm>
            <a:off x="4416552" y="40233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4645152" y="4169664"/>
            <a:ext cx="3063240" cy="640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30" name="Shape 24"/>
          <p:cNvSpPr/>
          <p:nvPr/>
        </p:nvSpPr>
        <p:spPr>
          <a:xfrm>
            <a:off x="4672584" y="4352544"/>
            <a:ext cx="566928" cy="566928"/>
          </a:xfrm>
          <a:prstGeom prst="ellipse">
            <a:avLst/>
          </a:prstGeom>
          <a:solidFill>
            <a:srgbClr val="22C55E">
              <a:alpha val="22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8647" y="4488607"/>
            <a:ext cx="294803" cy="29480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376672" y="4297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Spaced Revision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4672584" y="501091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1/3/7/14/30-day review scheduling for weak topics.</a:t>
            </a:r>
            <a:endParaRPr lang="en-US" sz="1080" dirty="0"/>
          </a:p>
        </p:txBody>
      </p:sp>
      <p:sp>
        <p:nvSpPr>
          <p:cNvPr id="34" name="Shape 27"/>
          <p:cNvSpPr/>
          <p:nvPr/>
        </p:nvSpPr>
        <p:spPr>
          <a:xfrm>
            <a:off x="8193024" y="40233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8"/>
          <p:cNvSpPr/>
          <p:nvPr/>
        </p:nvSpPr>
        <p:spPr>
          <a:xfrm>
            <a:off x="8421624" y="4169664"/>
            <a:ext cx="3063240" cy="640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36" name="Shape 29"/>
          <p:cNvSpPr/>
          <p:nvPr/>
        </p:nvSpPr>
        <p:spPr>
          <a:xfrm>
            <a:off x="8449056" y="4352544"/>
            <a:ext cx="566928" cy="566928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5119" y="4488607"/>
            <a:ext cx="294803" cy="294803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153144" y="4297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Reminders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8449056" y="501091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task and deadline nudges generated by the Reminder Agent.</a:t>
            </a:r>
            <a:endParaRPr lang="en-US" sz="1080" dirty="0"/>
          </a:p>
        </p:txBody>
      </p:sp>
      <p:sp>
        <p:nvSpPr>
          <p:cNvPr id="41" name="Text 3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Real Agentic Foundation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5" name="Shape 3"/>
          <p:cNvSpPr/>
          <p:nvPr/>
        </p:nvSpPr>
        <p:spPr>
          <a:xfrm>
            <a:off x="868680" y="2112264"/>
            <a:ext cx="3063240" cy="640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6" name="Shape 4"/>
          <p:cNvSpPr/>
          <p:nvPr/>
        </p:nvSpPr>
        <p:spPr>
          <a:xfrm>
            <a:off x="896112" y="2295144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75" y="2431207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UI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295351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Dark, glassmorphism interface across seven dedicated pages.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16552" y="19659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11" name="Shape 8"/>
          <p:cNvSpPr/>
          <p:nvPr/>
        </p:nvSpPr>
        <p:spPr>
          <a:xfrm>
            <a:off x="4645152" y="2112264"/>
            <a:ext cx="3063240" cy="6400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12" name="Shape 9"/>
          <p:cNvSpPr/>
          <p:nvPr/>
        </p:nvSpPr>
        <p:spPr>
          <a:xfrm>
            <a:off x="4672584" y="2295144"/>
            <a:ext cx="566928" cy="566928"/>
          </a:xfrm>
          <a:prstGeom prst="ellipse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647" y="2431207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76672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Orchestration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72584" y="295351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true StateGraph with conditional routing and checkpointing.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193024" y="19659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17" name="Shape 13"/>
          <p:cNvSpPr/>
          <p:nvPr/>
        </p:nvSpPr>
        <p:spPr>
          <a:xfrm>
            <a:off x="8421624" y="2112264"/>
            <a:ext cx="3063240" cy="6400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18" name="Shape 14"/>
          <p:cNvSpPr/>
          <p:nvPr/>
        </p:nvSpPr>
        <p:spPr>
          <a:xfrm>
            <a:off x="8449056" y="2295144"/>
            <a:ext cx="566928" cy="566928"/>
          </a:xfrm>
          <a:prstGeom prst="ellipse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5119" y="2431207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53144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LLM Engine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49056" y="295351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 for every agent's reasoning and generation.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40080" y="40233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23" name="Shape 18"/>
          <p:cNvSpPr/>
          <p:nvPr/>
        </p:nvSpPr>
        <p:spPr>
          <a:xfrm>
            <a:off x="868680" y="4169664"/>
            <a:ext cx="3063240" cy="640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24" name="Shape 19"/>
          <p:cNvSpPr/>
          <p:nvPr/>
        </p:nvSpPr>
        <p:spPr>
          <a:xfrm>
            <a:off x="896112" y="4352544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175" y="4488607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4297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SQLAlchemy + SQLite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96112" y="501091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relational tables tracking users, plans, quizzes, and progress.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4416552" y="40233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29" name="Shape 23"/>
          <p:cNvSpPr/>
          <p:nvPr/>
        </p:nvSpPr>
        <p:spPr>
          <a:xfrm>
            <a:off x="4645152" y="4169664"/>
            <a:ext cx="3063240" cy="6400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30" name="Shape 24"/>
          <p:cNvSpPr/>
          <p:nvPr/>
        </p:nvSpPr>
        <p:spPr>
          <a:xfrm>
            <a:off x="4672584" y="4352544"/>
            <a:ext cx="566928" cy="566928"/>
          </a:xfrm>
          <a:prstGeom prst="ellipse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8647" y="4488607"/>
            <a:ext cx="294803" cy="29480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376672" y="4297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 + FastEmbed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4672584" y="501091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 search for PDF-grounded, context-aware tutoring.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8193024" y="40233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35" name="Shape 28"/>
          <p:cNvSpPr/>
          <p:nvPr/>
        </p:nvSpPr>
        <p:spPr>
          <a:xfrm>
            <a:off x="8421624" y="4169664"/>
            <a:ext cx="3063240" cy="640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36" name="Shape 29"/>
          <p:cNvSpPr/>
          <p:nvPr/>
        </p:nvSpPr>
        <p:spPr>
          <a:xfrm>
            <a:off x="8449056" y="4352544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5119" y="4488607"/>
            <a:ext cx="294803" cy="294803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153144" y="4297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APScheduler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8449056" y="501091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scheduling for daily reminders and deadline alerts.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Advancing SDG 4: Quality Education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66360" cy="397764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/>
          <a:effectLst>
            <a:outerShdw blurRad="127000" dist="508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60120" y="2057400"/>
            <a:ext cx="4526280" cy="640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0120" y="2313432"/>
            <a:ext cx="594360" cy="594360"/>
          </a:xfrm>
          <a:prstGeom prst="ellipse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2462022"/>
            <a:ext cx="297180" cy="2971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3774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05840" y="2987802"/>
            <a:ext cx="4434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every learner a mentor that adapts to their real pace and gaps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scattered study habits into one continuously updated plan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progress visible, measurable, and genuinely actionable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personalized, quality tutoring to learners without one-on-one access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63640" y="1874520"/>
            <a:ext cx="5166360" cy="3977640"/>
          </a:xfrm>
          <a:prstGeom prst="roundRect">
            <a:avLst>
              <a:gd name="adj" fmla="val 2759"/>
            </a:avLst>
          </a:prstGeom>
          <a:solidFill>
            <a:srgbClr val="6366F1"/>
          </a:solidFill>
          <a:ln/>
          <a:effectLst>
            <a:outerShdw blurRad="127000" dist="508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583680" y="2313432"/>
            <a:ext cx="594360" cy="5943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270" y="2462022"/>
            <a:ext cx="297180" cy="2971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23774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629400" y="2895600"/>
            <a:ext cx="4434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6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tutoring with speech-to-text and text-to-speech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6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companion app with native push reminders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6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study groups and leaderboards for shared motivation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6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spaced-repetition using a full SM-2 style algorithm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534</Words>
  <Application>Microsoft Office PowerPoint</Application>
  <PresentationFormat>Widescreen</PresentationFormat>
  <Paragraphs>90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Learning Mentor</dc:title>
  <dc:subject>PptxGenJS Presentation</dc:subject>
  <dc:creator>PptxGenJS</dc:creator>
  <cp:lastModifiedBy>charul</cp:lastModifiedBy>
  <cp:revision>4</cp:revision>
  <dcterms:created xsi:type="dcterms:W3CDTF">2026-07-06T08:51:07Z</dcterms:created>
  <dcterms:modified xsi:type="dcterms:W3CDTF">2026-07-06T12:09:57Z</dcterms:modified>
</cp:coreProperties>
</file>